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6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APRIL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for Autoscaling Correctness in Kubernetes-Based Systems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640080" cy="36576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S.A.C.S. Indrejith - 2020ICT65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R. Yasotha, Senior Lecturer Gr. II, Department of Physical Science.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Co-Supervisor: </a:t>
            </a:r>
            <a:pPr indent="0" marL="0"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Suvin Kodituwakku, Senior Software Engineer, WSO2 Lanka Pvt Ltd.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C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systems lack mechanisms to evaluate decision effectiveness.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see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pods were created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and memory usage per pod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latency from logs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3611880" cy="713232"/>
          </a:xfrm>
          <a:prstGeom prst="rect">
            <a:avLst/>
          </a:prstGeom>
          <a:solidFill>
            <a:srgbClr val="E8F0F4"/>
          </a:solidFill>
          <a:ln w="6350">
            <a:solidFill>
              <a:srgbClr val="BFD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pPr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Kubernetes telemetry - HPA status API, Metrics Server, and kubelet logging (Kubernetes Documentation, 2026).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08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tell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scaling really needed at that moment?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happen on time?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actually fix the problem, or was it useless?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3154680"/>
            <a:ext cx="3611880" cy="713232"/>
          </a:xfrm>
          <a:prstGeom prst="rect">
            <a:avLst/>
          </a:prstGeom>
          <a:solidFill>
            <a:srgbClr val="F4E8E5"/>
          </a:solidFill>
          <a:ln w="6350">
            <a:solidFill>
              <a:srgbClr val="E5C6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320040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pPr indent="0" marL="0"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(2025) survey of cloud-native autoscaling notes no framework exists for decision-level correctness; Silva et al. (2025) finds observability research treats control actions as opaque events, not analysable entities.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lack of decision-level, outcome-oriented feedback makes it difficult to assess autoscaler behavior, tune configurations, or identify resource inefficiencies.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research needed?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HPA already scales automatically - so what's missing?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does this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CPU and memory utilisation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pods up when a threshold is breached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pods down when usage drops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3260" y="141732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3260" y="1417320"/>
            <a:ext cx="2697480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614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does NOT do this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06140" y="21488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 if each scaling action was needed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 if the action arrived on 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 if the action actually improved 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417320"/>
            <a:ext cx="2697480" cy="73152"/>
          </a:xfrm>
          <a:prstGeom prst="rect">
            <a:avLst/>
          </a:prstGeom>
          <a:solidFill>
            <a:srgbClr val="D43F2D"/>
          </a:solidFill>
          <a:ln w="12700">
            <a:solidFill>
              <a:srgbClr val="D43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for operators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72200" y="21488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thresholds becomes trial and error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resources go undetected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SLOs cannot be traced to a decision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adds decision-level correctness as a first-class observability signal.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97680" y="1280160"/>
            <a:ext cx="13716" cy="3108960"/>
          </a:xfrm>
          <a:prstGeom prst="rect">
            <a:avLst/>
          </a:prstGeom>
          <a:solidFill>
            <a:srgbClr val="8FB3C8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correctness of autoscaling decisions in Kubernetes-based systems using observability-driven outcome-oriented metrics.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Horizontal Pod Autoscaler (HPA) only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experimental cluster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controlled workload patterns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 of captured decisions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measurable criteria for classifying scaling decisions as correct or incorrect.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observability-based metrics for effectiveness, timeliness, and necessity.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evaluate Kubernetes HPA behavior under controlled workloads.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relationship between individual decisions and SLO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correctness is measured per scaling 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74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73352"/>
            <a:ext cx="457200" cy="457200"/>
          </a:xfrm>
          <a:prstGeom prst="ellipse">
            <a:avLst/>
          </a:prstGeom>
          <a:solidFill>
            <a:srgbClr val="D43F2D"/>
          </a:solidFill>
          <a:ln w="12700">
            <a:solidFill>
              <a:srgbClr val="D43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workload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4 controlled patterns: Step, Burst, Gradual Ramp, Noisy.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350008" y="1851660"/>
            <a:ext cx="146304" cy="182880"/>
          </a:xfrm>
          <a:prstGeom prst="rtTriangle">
            <a:avLst/>
          </a:prstGeom>
          <a:solidFill>
            <a:srgbClr val="3B6BB6"/>
          </a:solidFill>
          <a:ln w="12700">
            <a:solidFill>
              <a:srgbClr val="3B6B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508760"/>
            <a:ext cx="1874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673352"/>
            <a:ext cx="457200" cy="457200"/>
          </a:xfrm>
          <a:prstGeom prst="ellipse">
            <a:avLst/>
          </a:prstGeom>
          <a:solidFill>
            <a:srgbClr val="D43F2D"/>
          </a:solidFill>
          <a:ln w="12700">
            <a:solidFill>
              <a:srgbClr val="D43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decision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246888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watcher records every HPA replica change with timestamp + trigger metric.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590288" y="1851660"/>
            <a:ext cx="146304" cy="182880"/>
          </a:xfrm>
          <a:prstGeom prst="rtTriangle">
            <a:avLst/>
          </a:prstGeom>
          <a:solidFill>
            <a:srgbClr val="3B6BB6"/>
          </a:solidFill>
          <a:ln w="12700">
            <a:solidFill>
              <a:srgbClr val="3B6B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508760"/>
            <a:ext cx="1874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1673352"/>
            <a:ext cx="457200" cy="457200"/>
          </a:xfrm>
          <a:prstGeom prst="ellipse">
            <a:avLst/>
          </a:prstGeom>
          <a:solidFill>
            <a:srgbClr val="D43F2D"/>
          </a:solidFill>
          <a:ln w="12700">
            <a:solidFill>
              <a:srgbClr val="D43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2356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two signals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246888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Timeliness: gap between SLO at risk and HPA action.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Effectiveness: latency before vs after action.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6830568" y="1851660"/>
            <a:ext cx="146304" cy="182880"/>
          </a:xfrm>
          <a:prstGeom prst="rtTriangle">
            <a:avLst/>
          </a:prstGeom>
          <a:solidFill>
            <a:srgbClr val="3B6BB6"/>
          </a:solidFill>
          <a:ln w="12700">
            <a:solidFill>
              <a:srgbClr val="3B6B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1508760"/>
            <a:ext cx="1874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673352"/>
            <a:ext cx="457200" cy="457200"/>
          </a:xfrm>
          <a:prstGeom prst="ellipse">
            <a:avLst/>
          </a:prstGeom>
          <a:solidFill>
            <a:srgbClr val="D43F2D"/>
          </a:solidFill>
          <a:ln w="12700">
            <a:solidFill>
              <a:srgbClr val="D43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decision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78040" y="246888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&amp; Timely / Correct but Late / Unnecessary / Ineffective.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C8D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 </a:t>
            </a:r>
            <a:pPr indent="0" marL="0">
              <a:buNone/>
            </a:pPr>
            <a:r>
              <a:rPr lang="en-US" sz="10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load generator (workload), HPA Decision Watcher (decisions), Prometheus + service audit logs (latency for SLO + effectiveness measurement).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to Date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Phases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82880" cy="1828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Experimental Setup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37560" y="1417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182880" cy="1828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013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Application Under Test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37560" y="1801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8541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Workload Generation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2185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ready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182880" cy="1828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6946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Observability Collection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25694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182880" cy="1828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9535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Capturing Decisions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2953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182880" cy="182880"/>
          </a:xfrm>
          <a:prstGeom prst="ellipse">
            <a:avLst/>
          </a:prstGeom>
          <a:solidFill>
            <a:srgbClr val="AAB6C2"/>
          </a:solidFill>
          <a:ln w="12700">
            <a:solidFill>
              <a:srgbClr val="AAB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375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Correctness Metrics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37560" y="3337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182880" cy="182880"/>
          </a:xfrm>
          <a:prstGeom prst="ellipse">
            <a:avLst/>
          </a:prstGeom>
          <a:solidFill>
            <a:srgbClr val="AAB6C2"/>
          </a:solidFill>
          <a:ln w="12700">
            <a:solidFill>
              <a:srgbClr val="AAB6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7216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Analysis &amp; Evaluation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37560" y="37216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097280"/>
            <a:ext cx="13716" cy="3291840"/>
          </a:xfrm>
          <a:prstGeom prst="rect">
            <a:avLst/>
          </a:prstGeom>
          <a:solidFill>
            <a:srgbClr val="8FB3C8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Deliverables Built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141732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Kubernetes cluster (HPA enabled)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Ballerina HTTP microservice with CPU-proportional load endpoint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monitoring stack (kube-prometheus-stack)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HPA Decision Watcher (Python) emitting structured JSON events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k6 load-generation scripts: Step, Burst, Ramp, Noisy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scaling decisions captured during pipeline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 Actual Progress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26 April 2026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3017520"/>
                <a:gridCol w="17373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(per Gantt)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25 - May 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gathering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- Feb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and Techniques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- Feb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- Apr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Phases 1, 2, 4, 5 complete; Phases 3, 6, 7 ahead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Writing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- May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3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due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5A64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&amp; Submission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due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5A64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catch-up plan for Documentation Writing - first chapter draft begins immediately after Phase 6 metrics are computed.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C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D43F2D"/>
          </a:solidFill>
          <a:ln w="12700">
            <a:solidFill>
              <a:srgbClr val="D43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0789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workload campaign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20 iterations per pattern (Step, Burst, Ramp, Noisy) with idle gaps between runs; capture all HPA decisions.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188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3B6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April - Early May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D43F2D"/>
          </a:solidFill>
          <a:ln w="12700">
            <a:solidFill>
              <a:srgbClr val="D43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9476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correctness metrics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analysis script to derive timeliness and effectiveness scores per scaling decision from captured data.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0574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3B6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D43F2D"/>
          </a:solidFill>
          <a:ln w="12700">
            <a:solidFill>
              <a:srgbClr val="D43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8163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classification &amp; comparative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108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decision into the four correctness categories; compare HPA behavior across the four workload patterns.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926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3B6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D43F2D"/>
          </a:solidFill>
          <a:ln w="12700">
            <a:solidFill>
              <a:srgbClr val="D43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685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writing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77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Methodology, Results, and Discussion chapters in parallel with analysis; prepare publication draft.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794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3B6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- June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C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6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APRIL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D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Review</dc:title>
  <dc:subject>PptxGenJS Presentation</dc:subject>
  <dc:creator>S.A.C.S. Indrejith</dc:creator>
  <cp:lastModifiedBy>S.A.C.S. Indrejith</cp:lastModifiedBy>
  <cp:revision>1</cp:revision>
  <dcterms:created xsi:type="dcterms:W3CDTF">2026-04-26T17:26:57Z</dcterms:created>
  <dcterms:modified xsi:type="dcterms:W3CDTF">2026-04-26T17:26:57Z</dcterms:modified>
</cp:coreProperties>
</file>